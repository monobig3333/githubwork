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spreadsheets/d/1oLua9Ktb2gjOv3h-W0wwsmfPfrAeQutg/edit?gid=1545672231#gid=154567223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性能・可用性・非正常系試験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評価報告書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548640" cy="54864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統合管理コンソール導入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 / 可用性 / 災害対策 / MID サーバ性能・可用性 / 非正常系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実施期間: 2026/5/13 ‐ 2026/6/5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担当: 性能・可用性評価担当  小野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性能指標のベース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Baseline &amp; Capacity Planning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777240"/>
          </a:xfrm>
          <a:prstGeom prst="rect">
            <a:avLst/>
          </a:prstGeom>
          <a:solidFill>
            <a:srgbClr val="FFF4D6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27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導入当初の非機能要件 (Google Sheets)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4813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1A56C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https://docs.google.com/spreadsheets/d/1oLua9Ktb2gjOv3h-W0wwsmfPfrAeQutg/edit?gid=1545672231#gid=1545672231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657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5740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件 / 10 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限界値の根拠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8036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 NW 機器数: 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機器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実績の年間増加: 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+1,000 機器/年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EOL までの 5 年想定: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10,000 + 1,000×5 = 15,000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余裕 (×2) で限界値: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機器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分間隔 × 2 回分以内に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アラーム到達 = 10 分以内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Zabbix は状態変化時のみ送出 →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連続では詰まらない仕様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6576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365760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0574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 330 クライアント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2542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変更されたベース (1,000 から削減)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現在の保有ライセンス: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Fulfiller :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BSH      :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合計      :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同時接続想定 (×2):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× 2 = 330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当初要件は 1,000 クライアントだったが、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実ライセンス数に合わせて削減。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参照系 (1-3) で 330 同時接続を試験。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321040" y="2057400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57400"/>
            <a:ext cx="33375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2057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最大流量・想定ピーク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25420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機器/秒 (NW 系全滅シナリオ)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58200" y="2880360"/>
            <a:ext cx="3063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 系機器 30,000 台が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全滅した場合の挙動: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監視プロセスがアラームを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時間に均等分散して送出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流量 =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機器/秒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(30,000 ÷ 600 秒)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すべての機器が同時障害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というピーク前提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倍見込み機器数の全滅想定)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試験概要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統合管理コンソールの非機能要件 (性能・可用性・災害対策)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および MID サーバの性能・可用性・非正常系耐性を網羅的に検証する。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試験スコープ (34 項目  ※ 出荷条件 33 + 参考 1)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6675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カテゴリ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件数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主な観点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サービスデスク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画面応答時間・同時接続・月間処理量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アラームビューワー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同時接続・最大負荷処理・描画応答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ワークフロー / 構成情報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並列実行・データ件数上限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可用性・災害対策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SLA・冗長構成・マルチAZ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性能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(+参考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イベント転送・リソース・Trap (M-11 メールは参考値)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可用性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停止時動作・データロス・自動復旧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非正常系 (N-1〜N-5)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I/O・CPU・メモリ・Disk Full・TCP 枯渇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試験環境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5394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バージョン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対象インスタンス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biglobenonprod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biglobedev (性能サブセット)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 (REST)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246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session cookie + X-UserToken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認証 (画面)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SSO + MFA storage_state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/ Classic 両対応 (em_event_list.do 等)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53949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097280"/>
            <a:ext cx="539496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097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Server / 負荷生成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1691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構成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0" y="1691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AZ (各 AZ 1 台)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stg-1 / stg-2 / stg-3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(外部)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イベント流量 (通常)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32461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件/分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イベント流量 (高負荷)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023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件 / 10 分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800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性能計測ツール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 JMeter / Python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全体結果サマリ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Summary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486400" cy="2743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出荷条件 対象項目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全て OK 判定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出荷条件 合格率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1645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600" dirty="0"/>
          </a:p>
        </p:txBody>
      </p:sp>
      <p:sp>
        <p:nvSpPr>
          <p:cNvPr id="12" name="Text 10"/>
          <p:cNvSpPr/>
          <p:nvPr/>
        </p:nvSpPr>
        <p:spPr>
          <a:xfrm>
            <a:off x="6217920" y="32461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別途 参考値 1 件 (M-11 メール通知)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97280"/>
                <a:gridCol w="1097280"/>
                <a:gridCol w="3749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カテゴリ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件数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備考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サービスデスク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アラームビューワー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 ワークフロー / 構成情報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可用性 / 災害対策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性能 (M-1〜M-4, M-10)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別途 M-11 を参考値として測定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可用性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サーバ 非正常系 (N-1〜N-5)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性能試験 主要結果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2852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109728" cy="2377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同時 330 接続 (参照専用)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 client OK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330 thread / 接続拒否・タイムアウトなし。Constant Throughput Timer で安定化。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55080" y="1097280"/>
            <a:ext cx="52852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55080" y="1097280"/>
            <a:ext cx="109728" cy="2377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 アラーム処理性能 (最大負荷)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29400" y="1645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 件 / 10 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29400" y="24688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経由イベント全件処理・欠損ゼロ。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2852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657600"/>
            <a:ext cx="109728" cy="2377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イベント描画 (通常時)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平均 1.7s / 最大 5.7s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閾値 3s。20 件中 19 件が 3s 以内、1 件突出は再計測対象。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657600"/>
            <a:ext cx="528523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3657600"/>
            <a:ext cx="109728" cy="237744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794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2-4/5 イベント描画 (高負荷時)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206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平均 59.6s / 最大 109.7s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29400" y="5029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閾値 avg 60s / max 180s クリア。バースト時の負荷影響を確認。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 ワークフロー並列実行 100 本 OK   /   4-1 構成情報 100 万件 上限確認 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可用性・災害対策 主要結果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DR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548640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ServiceNow 社方針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実機フェイルオーバー試験は実施不可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仕様書・Trust Center 資料による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ドキュメントレビュー方式で代替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7-2 / 7-3 / 7-4 が該当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Site / 契約 / SLA で確認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99.8% 以上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分以内の切替仕様確認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障害時 5 分以内回復仕様確認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冗長 (サーバ/回線/ストレージ)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マルチリージョン / マルチAZ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097280"/>
          <a:ext cx="5394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383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24/365 稼働確認 (SLA)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系切替時間 (ドキュメント)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系切替後データ継続 (ドキュメント)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単一障害時サービス継続 (ドキュメント)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7-5/6/7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冗長構成 サーバ/回線/ストレージ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マルチリージョン構成確認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マルチAZ構成確認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サーバ 性能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Performance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572000"/>
                <a:gridCol w="448056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主要指標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イベント転送 スループット (通常時)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AZ 同時稼働 / 全件転送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イベント転送 スループット (最大負荷)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 件 / 10 分 完走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高負荷継続時の性能飽和確認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分継続 遅延増加なし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高負荷時 リソース使用率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1分平均 76.5% / MEM 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Trap 送信テスト (外部試験)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イベント / 6 分 欠損なし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メール通知送信機能テスト ※参考値・出荷条件外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イベント 処理に約 53 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9768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4297680"/>
            <a:ext cx="109728" cy="178308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370832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評価基準と運用解釈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10515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評価軸: 「80% 以下」を「1 分平均 ≤ 80%」として運用観点で解釈。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M-4: 1 分平均 最大 76.5% (warmup 含む) / メモリ平均 37% で要件クリア。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M-10: 3 台 MID act-act 構成で 15,000 イベントを 6 分で処理、欠損なし。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M-11 は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参考値・出荷条件外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。メール経由で全機器の障害通知を行う運用は設計想定外のため、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処理時間 (5,000 件で約 53 分) は参考データとして記録するに留める。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サーバ 可用性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Availability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6858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846320"/>
                <a:gridCol w="1097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1AZ 停止時のイベント転送継続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2AZ 停止時のイベント転送継続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停止中のデータロスなし確認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停止 AZ の自動復旧確認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 AZ 停止時の挙動・復旧後再送確認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097280"/>
            <a:ext cx="4023360" cy="4937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ハイライト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0" y="1691640"/>
            <a:ext cx="365760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AZ 構成で 1〜2 AZ 停止でも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イベント転送が継続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全 AZ 停止からの復旧時、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キューイングされたイベントが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漏れなく再送されることを確認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自動復旧 (手動介入なし) 確認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サーバ 非正常系 (新設)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 N-1〜N-5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657600"/>
                <a:gridCol w="1280160"/>
                <a:gridCol w="42062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異常条件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期待動作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実測 / 検出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I/O 高負荷 (dd 並列)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最大ギャップ 40s (≤60s)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100% 張り付き (busy-loop)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最大ギャップ 41s (≤60s)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メモリ不足 (Java ヒープ温存)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最大ギャップ 40s (≤60s)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Full 100% (ENOSPC まで充填)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継続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最大ギャップ 40s (≤60s)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枯渇 (sysctl 縮小 33 ポート)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異常検出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8m33s で MID Down 検出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06240"/>
            <a:ext cx="5440680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継続性 (N-1〜N-4)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em_event 到達 最大ギャップ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4983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40〜41 秒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172200" y="4206240"/>
            <a:ext cx="5440680" cy="1828800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4297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異常検出 (N-5)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55080" y="4663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Down 検出までの所要時間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55080" y="4983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分 33 秒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主要な知見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801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80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12161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認証は OAuth 不要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1600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ブラウザの auth.json (cookie) + X-UserToken (window.g_ck) で REST API を叩ける。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Client Credentials / AWS Secrets Manager 取得を排除し、構成を簡素化。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603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2496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高負荷時の Polling は降順が必須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高負荷時は em_event がバーストで届くため、昇順 (古い順) ポーリングだとビューワー 1 ページ目から押し出されて検知できない。降順 + 計測済 sys_id 除外で安定。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840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40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3776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N-3 メモリ試験は Java ヒープ温存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Java の Max ヒープ (4096 MB) を奪うと GC 飢餓で em_event が止まる。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計算式を「MemTotal − MID_MAX_MB − OS_BUFFER_MB」に変更して安定化。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120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120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83080" y="50566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N-5 TCP 枯渇は sysctl が確実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83080" y="5440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ulimit は systemd 起動の MID daemon に効かない。ip_local_port_range を sysctl で縮小する方式に切替えて約 8 分で MID Down 検出を実現。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制限事項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 — Zabbix Connector Burst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64240" cy="960120"/>
          </a:xfrm>
          <a:prstGeom prst="rect">
            <a:avLst/>
          </a:prstGeom>
          <a:solidFill>
            <a:srgbClr val="FFF4D6"/>
          </a:solidFill>
          <a:ln w="15240">
            <a:solidFill>
              <a:srgbClr val="FFC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27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Connector のバースト時取りこぼし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短時間に大量のイベントを送ったときだけ発生する既知の現象。実運用の負荷では再現しないことを試験で確認済み。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286000"/>
            <a:ext cx="33375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発生条件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性能限界レベル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の性能限界レベルの負荷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（ローカルからのバースト性能） がかかったとき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286000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286000"/>
            <a:ext cx="33375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860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発生率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取りこぼしが起きた割合 (期間中の総イベントに対する欠損率)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286000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286000"/>
            <a:ext cx="333756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22860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通常運用での再現性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27889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8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再現なし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503920" y="36118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実運用の最大通知レベル 50 障害／秒 では再現しないことを試験で確認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691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業務影響と対応方針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120640"/>
            <a:ext cx="10698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取りこぼされたイベントは Zabbix 側に履歴として残る ため、必要に応じて 再送・運用回避が可能。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実運用の負荷帯では再現せず、業務影響は実質ない 想定。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本事象は ServiceNow サポートで確認済み。 次回 製品修正がリリースされるまでの 暫定制限事項 として扱う。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Availability / Fault Tolerance Evaluation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FFC85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総括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出荷条件 33 項目をすべて OK 判定で消化。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統合管理コンソール・MID サーバは本番運用に耐える品質を確認。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657600" cy="2194560"/>
          </a:xfrm>
          <a:prstGeom prst="rect">
            <a:avLst/>
          </a:prstGeom>
          <a:solidFill>
            <a:srgbClr val="2C3A7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画面応答・スループット・Trap   ※M-11 メール通知は参考値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657600"/>
            <a:ext cx="3657600" cy="2194560"/>
          </a:xfrm>
          <a:prstGeom prst="rect">
            <a:avLst/>
          </a:prstGeom>
          <a:solidFill>
            <a:srgbClr val="2C3A7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可用性 / 災害対策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177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99.8% / 3 AZ 冗長 / マルチリージョン 仕様確認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3657600"/>
            <a:ext cx="3657600" cy="2194560"/>
          </a:xfrm>
          <a:prstGeom prst="rect">
            <a:avLst/>
          </a:prstGeom>
          <a:solidFill>
            <a:srgbClr val="2C3A75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非正常系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114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5/5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リソース圧迫下の継続性・TCP 枯渇時の異常検出 確認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統合管理コンソール 性能・可用性・非正常系試験 — 評価完了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性能・可用性・非正常系試験 評価報告書</dc:title>
  <dc:subject>ServiceNow 統合管理コンソール導入 性能・可用性・非正常系試験</dc:subject>
  <dc:creator>PptxGenJS</dc:creator>
  <cp:lastModifiedBy>PptxGenJS</cp:lastModifiedBy>
  <cp:revision>1</cp:revision>
  <dcterms:created xsi:type="dcterms:W3CDTF">2026-06-17T00:58:02Z</dcterms:created>
  <dcterms:modified xsi:type="dcterms:W3CDTF">2026-06-17T00:58:02Z</dcterms:modified>
</cp:coreProperties>
</file>